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362895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00FFC8"/>
                </a:solidFill>
              </a:defRPr>
            </a:pPr>
            <a:r>
              <a:t>AI辅助开发分享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91840"/>
            <a:ext cx="103628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96C8FF"/>
                </a:solidFill>
              </a:defRPr>
            </a:pPr>
            <a:r>
              <a:t>提升效率 · 释放创意 · 未来已来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09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目录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8016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spcAft>
                <a:spcPts val="500"/>
              </a:spcAft>
              <a:defRPr sz="2200">
                <a:solidFill>
                  <a:srgbClr val="C8C8DC"/>
                </a:solidFill>
              </a:defRPr>
            </a:pPr>
            <a:r>
              <a:t>1. AI辅助开发概述</a:t>
            </a:r>
          </a:p>
          <a:p>
            <a:pPr>
              <a:spcBef>
                <a:spcPts val="1000"/>
              </a:spcBef>
              <a:spcAft>
                <a:spcPts val="500"/>
              </a:spcAft>
              <a:defRPr sz="2200">
                <a:solidFill>
                  <a:srgbClr val="C8C8DC"/>
                </a:solidFill>
              </a:defRPr>
            </a:pPr>
            <a:r>
              <a:t>2. 常用AI工具介绍</a:t>
            </a:r>
          </a:p>
          <a:p>
            <a:pPr>
              <a:spcBef>
                <a:spcPts val="1000"/>
              </a:spcBef>
              <a:spcAft>
                <a:spcPts val="500"/>
              </a:spcAft>
              <a:defRPr sz="2200">
                <a:solidFill>
                  <a:srgbClr val="C8C8DC"/>
                </a:solidFill>
              </a:defRPr>
            </a:pPr>
            <a:r>
              <a:t>3. 实际应用场景</a:t>
            </a:r>
          </a:p>
          <a:p>
            <a:pPr>
              <a:spcBef>
                <a:spcPts val="1000"/>
              </a:spcBef>
              <a:spcAft>
                <a:spcPts val="500"/>
              </a:spcAft>
              <a:defRPr sz="2200">
                <a:solidFill>
                  <a:srgbClr val="C8C8DC"/>
                </a:solidFill>
              </a:defRPr>
            </a:pPr>
            <a:r>
              <a:t>4. 最佳实践与技巧</a:t>
            </a:r>
          </a:p>
          <a:p>
            <a:pPr>
              <a:spcBef>
                <a:spcPts val="1000"/>
              </a:spcBef>
              <a:spcAft>
                <a:spcPts val="500"/>
              </a:spcAft>
              <a:defRPr sz="2200">
                <a:solidFill>
                  <a:srgbClr val="C8C8DC"/>
                </a:solidFill>
              </a:defRPr>
            </a:pPr>
            <a:r>
              <a:t>5. 实际案例分享</a:t>
            </a:r>
          </a:p>
          <a:p>
            <a:pPr>
              <a:spcBef>
                <a:spcPts val="1000"/>
              </a:spcBef>
              <a:spcAft>
                <a:spcPts val="500"/>
              </a:spcAft>
              <a:defRPr sz="2200">
                <a:solidFill>
                  <a:srgbClr val="C8C8DC"/>
                </a:solidFill>
              </a:defRPr>
            </a:pPr>
            <a:r>
              <a:t>6. 未来展望与总结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09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AI辅助开发概述</a:t>
            </a:r>
          </a:p>
        </p:txBody>
      </p:sp>
      <p:pic>
        <p:nvPicPr>
          <p:cNvPr id="5" name="Picture 4" descr="ppt_img_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1645920"/>
            <a:ext cx="3931920" cy="29489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1280160"/>
            <a:ext cx="6858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spcAft>
                <a:spcPts val="500"/>
              </a:spcAft>
              <a:defRPr sz="2200">
                <a:solidFill>
                  <a:srgbClr val="C8C8DC"/>
                </a:solidFill>
              </a:defRPr>
            </a:pPr>
            <a:r>
              <a:t>利用人工智能技术辅助软件开发</a:t>
            </a:r>
          </a:p>
          <a:p>
            <a:pPr>
              <a:spcBef>
                <a:spcPts val="1000"/>
              </a:spcBef>
              <a:spcAft>
                <a:spcPts val="500"/>
              </a:spcAft>
              <a:defRPr sz="2200">
                <a:solidFill>
                  <a:srgbClr val="C8C8DC"/>
                </a:solidFill>
              </a:defRPr>
            </a:pPr>
          </a:p>
          <a:p>
            <a:pPr>
              <a:spcBef>
                <a:spcPts val="1000"/>
              </a:spcBef>
              <a:spcAft>
                <a:spcPts val="500"/>
              </a:spcAft>
              <a:defRPr sz="2200">
                <a:solidFill>
                  <a:srgbClr val="C8C8DC"/>
                </a:solidFill>
              </a:defRPr>
            </a:pPr>
            <a:r>
              <a:t>核心价值：</a:t>
            </a:r>
          </a:p>
          <a:p>
            <a:pPr>
              <a:spcBef>
                <a:spcPts val="1000"/>
              </a:spcBef>
              <a:spcAft>
                <a:spcPts val="500"/>
              </a:spcAft>
              <a:defRPr sz="2200">
                <a:solidFill>
                  <a:srgbClr val="C8C8DC"/>
                </a:solidFill>
              </a:defRPr>
            </a:pPr>
            <a:r>
              <a:t>• 提升编码效率 30%-50%</a:t>
            </a:r>
          </a:p>
          <a:p>
            <a:pPr>
              <a:spcBef>
                <a:spcPts val="1000"/>
              </a:spcBef>
              <a:spcAft>
                <a:spcPts val="500"/>
              </a:spcAft>
              <a:defRPr sz="2200">
                <a:solidFill>
                  <a:srgbClr val="C8C8DC"/>
                </a:solidFill>
              </a:defRPr>
            </a:pPr>
            <a:r>
              <a:t>• 降低学习成本</a:t>
            </a:r>
          </a:p>
          <a:p>
            <a:pPr>
              <a:spcBef>
                <a:spcPts val="1000"/>
              </a:spcBef>
              <a:spcAft>
                <a:spcPts val="500"/>
              </a:spcAft>
              <a:defRPr sz="2200">
                <a:solidFill>
                  <a:srgbClr val="C8C8DC"/>
                </a:solidFill>
              </a:defRPr>
            </a:pPr>
            <a:r>
              <a:t>• 减少错误率</a:t>
            </a:r>
          </a:p>
          <a:p>
            <a:pPr>
              <a:spcBef>
                <a:spcPts val="1000"/>
              </a:spcBef>
              <a:spcAft>
                <a:spcPts val="500"/>
              </a:spcAft>
              <a:defRPr sz="2200">
                <a:solidFill>
                  <a:srgbClr val="C8C8DC"/>
                </a:solidFill>
              </a:defRPr>
            </a:pPr>
            <a:r>
              <a:t>• 加速项目交付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09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常用AI工具</a:t>
            </a:r>
          </a:p>
        </p:txBody>
      </p:sp>
      <p:pic>
        <p:nvPicPr>
          <p:cNvPr id="5" name="Picture 4" descr="ppt_img_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1645920"/>
            <a:ext cx="3931920" cy="29489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1280160"/>
            <a:ext cx="6858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spcAft>
                <a:spcPts val="500"/>
              </a:spcAft>
              <a:defRPr sz="2200">
                <a:solidFill>
                  <a:srgbClr val="C8C8DC"/>
                </a:solidFill>
              </a:defRPr>
            </a:pPr>
            <a:r>
              <a:t>代码生成：</a:t>
            </a:r>
          </a:p>
          <a:p>
            <a:pPr>
              <a:spcBef>
                <a:spcPts val="1000"/>
              </a:spcBef>
              <a:spcAft>
                <a:spcPts val="500"/>
              </a:spcAft>
              <a:defRPr sz="2200">
                <a:solidFill>
                  <a:srgbClr val="C8C8DC"/>
                </a:solidFill>
              </a:defRPr>
            </a:pPr>
            <a:r>
              <a:t>• GitHub Copilot - 自动补全</a:t>
            </a:r>
          </a:p>
          <a:p>
            <a:pPr>
              <a:spcBef>
                <a:spcPts val="1000"/>
              </a:spcBef>
              <a:spcAft>
                <a:spcPts val="500"/>
              </a:spcAft>
              <a:defRPr sz="2200">
                <a:solidFill>
                  <a:srgbClr val="C8C8DC"/>
                </a:solidFill>
              </a:defRPr>
            </a:pPr>
            <a:r>
              <a:t>• Codeium - 免费开源</a:t>
            </a:r>
          </a:p>
          <a:p>
            <a:pPr>
              <a:spcBef>
                <a:spcPts val="1000"/>
              </a:spcBef>
              <a:spcAft>
                <a:spcPts val="500"/>
              </a:spcAft>
              <a:defRPr sz="2200">
                <a:solidFill>
                  <a:srgbClr val="C8C8DC"/>
                </a:solidFill>
              </a:defRPr>
            </a:pPr>
          </a:p>
          <a:p>
            <a:pPr>
              <a:spcBef>
                <a:spcPts val="1000"/>
              </a:spcBef>
              <a:spcAft>
                <a:spcPts val="500"/>
              </a:spcAft>
              <a:defRPr sz="2200">
                <a:solidFill>
                  <a:srgbClr val="C8C8DC"/>
                </a:solidFill>
              </a:defRPr>
            </a:pPr>
            <a:r>
              <a:t>AI助手：</a:t>
            </a:r>
          </a:p>
          <a:p>
            <a:pPr>
              <a:spcBef>
                <a:spcPts val="1000"/>
              </a:spcBef>
              <a:spcAft>
                <a:spcPts val="500"/>
              </a:spcAft>
              <a:defRPr sz="2200">
                <a:solidFill>
                  <a:srgbClr val="C8C8DC"/>
                </a:solidFill>
              </a:defRPr>
            </a:pPr>
            <a:r>
              <a:t>• ChatGPT - 通用性强</a:t>
            </a:r>
          </a:p>
          <a:p>
            <a:pPr>
              <a:spcBef>
                <a:spcPts val="1000"/>
              </a:spcBef>
              <a:spcAft>
                <a:spcPts val="500"/>
              </a:spcAft>
              <a:defRPr sz="2200">
                <a:solidFill>
                  <a:srgbClr val="C8C8DC"/>
                </a:solidFill>
              </a:defRPr>
            </a:pPr>
            <a:r>
              <a:t>• Claude - 代码能力突出</a:t>
            </a:r>
          </a:p>
          <a:p>
            <a:pPr>
              <a:spcBef>
                <a:spcPts val="1000"/>
              </a:spcBef>
              <a:spcAft>
                <a:spcPts val="500"/>
              </a:spcAft>
              <a:defRPr sz="2200">
                <a:solidFill>
                  <a:srgbClr val="C8C8DC"/>
                </a:solidFill>
              </a:defRPr>
            </a:pPr>
            <a:r>
              <a:t>• 文心一言 - 中文优秀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09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实际应用场景</a:t>
            </a:r>
          </a:p>
        </p:txBody>
      </p:sp>
      <p:pic>
        <p:nvPicPr>
          <p:cNvPr id="5" name="Picture 4" descr="ppt_img_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1645920"/>
            <a:ext cx="3931920" cy="29489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1280160"/>
            <a:ext cx="6858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spcAft>
                <a:spcPts val="500"/>
              </a:spcAft>
              <a:defRPr sz="2200">
                <a:solidFill>
                  <a:srgbClr val="C8C8DC"/>
                </a:solidFill>
              </a:defRPr>
            </a:pPr>
            <a:r>
              <a:t>代码生成：10分钟 → 10秒</a:t>
            </a:r>
          </a:p>
          <a:p>
            <a:pPr>
              <a:spcBef>
                <a:spcPts val="1000"/>
              </a:spcBef>
              <a:spcAft>
                <a:spcPts val="500"/>
              </a:spcAft>
              <a:defRPr sz="2200">
                <a:solidFill>
                  <a:srgbClr val="C8C8DC"/>
                </a:solidFill>
              </a:defRPr>
            </a:pPr>
          </a:p>
          <a:p>
            <a:pPr>
              <a:spcBef>
                <a:spcPts val="1000"/>
              </a:spcBef>
              <a:spcAft>
                <a:spcPts val="500"/>
              </a:spcAft>
              <a:defRPr sz="2200">
                <a:solidFill>
                  <a:srgbClr val="C8C8DC"/>
                </a:solidFill>
              </a:defRPr>
            </a:pPr>
            <a:r>
              <a:t>代码审查：发现Bug、优化建议</a:t>
            </a:r>
          </a:p>
          <a:p>
            <a:pPr>
              <a:spcBef>
                <a:spcPts val="1000"/>
              </a:spcBef>
              <a:spcAft>
                <a:spcPts val="500"/>
              </a:spcAft>
              <a:defRPr sz="2200">
                <a:solidFill>
                  <a:srgbClr val="C8C8DC"/>
                </a:solidFill>
              </a:defRPr>
            </a:pPr>
          </a:p>
          <a:p>
            <a:pPr>
              <a:spcBef>
                <a:spcPts val="1000"/>
              </a:spcBef>
              <a:spcAft>
                <a:spcPts val="500"/>
              </a:spcAft>
              <a:defRPr sz="2200">
                <a:solidFill>
                  <a:srgbClr val="C8C8DC"/>
                </a:solidFill>
              </a:defRPr>
            </a:pPr>
            <a:r>
              <a:t>文档生成：自动注释、API文档</a:t>
            </a:r>
          </a:p>
          <a:p>
            <a:pPr>
              <a:spcBef>
                <a:spcPts val="1000"/>
              </a:spcBef>
              <a:spcAft>
                <a:spcPts val="500"/>
              </a:spcAft>
              <a:defRPr sz="2200">
                <a:solidFill>
                  <a:srgbClr val="C8C8DC"/>
                </a:solidFill>
              </a:defRPr>
            </a:pPr>
          </a:p>
          <a:p>
            <a:pPr>
              <a:spcBef>
                <a:spcPts val="1000"/>
              </a:spcBef>
              <a:spcAft>
                <a:spcPts val="500"/>
              </a:spcAft>
              <a:defRPr sz="2200">
                <a:solidFill>
                  <a:srgbClr val="C8C8DC"/>
                </a:solidFill>
              </a:defRPr>
            </a:pPr>
            <a:r>
              <a:t>Bug修复：智能诊断、修复方案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09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最佳实践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8016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spcAft>
                <a:spcPts val="500"/>
              </a:spcAft>
              <a:defRPr sz="2200">
                <a:solidFill>
                  <a:srgbClr val="C8C8DC"/>
                </a:solidFill>
              </a:defRPr>
            </a:pPr>
            <a:r>
              <a:t>应该做：</a:t>
            </a:r>
          </a:p>
          <a:p>
            <a:pPr>
              <a:spcBef>
                <a:spcPts val="1000"/>
              </a:spcBef>
              <a:spcAft>
                <a:spcPts val="500"/>
              </a:spcAft>
              <a:defRPr sz="2200">
                <a:solidFill>
                  <a:srgbClr val="C8C8DC"/>
                </a:solidFill>
              </a:defRPr>
            </a:pPr>
            <a:r>
              <a:t>• 明确描述需求</a:t>
            </a:r>
          </a:p>
          <a:p>
            <a:pPr>
              <a:spcBef>
                <a:spcPts val="1000"/>
              </a:spcBef>
              <a:spcAft>
                <a:spcPts val="500"/>
              </a:spcAft>
              <a:defRPr sz="2200">
                <a:solidFill>
                  <a:srgbClr val="C8C8DC"/>
                </a:solidFill>
              </a:defRPr>
            </a:pPr>
            <a:r>
              <a:t>• 分步骤提问</a:t>
            </a:r>
          </a:p>
          <a:p>
            <a:pPr>
              <a:spcBef>
                <a:spcPts val="1000"/>
              </a:spcBef>
              <a:spcAft>
                <a:spcPts val="500"/>
              </a:spcAft>
              <a:defRPr sz="2200">
                <a:solidFill>
                  <a:srgbClr val="C8C8DC"/>
                </a:solidFill>
              </a:defRPr>
            </a:pPr>
            <a:r>
              <a:t>• 验证AI输出</a:t>
            </a:r>
          </a:p>
          <a:p>
            <a:pPr>
              <a:spcBef>
                <a:spcPts val="1000"/>
              </a:spcBef>
              <a:spcAft>
                <a:spcPts val="500"/>
              </a:spcAft>
              <a:defRPr sz="2200">
                <a:solidFill>
                  <a:srgbClr val="C8C8DC"/>
                </a:solidFill>
              </a:defRPr>
            </a:pPr>
          </a:p>
          <a:p>
            <a:pPr>
              <a:spcBef>
                <a:spcPts val="1000"/>
              </a:spcBef>
              <a:spcAft>
                <a:spcPts val="500"/>
              </a:spcAft>
              <a:defRPr sz="2200">
                <a:solidFill>
                  <a:srgbClr val="C8C8DC"/>
                </a:solidFill>
              </a:defRPr>
            </a:pPr>
            <a:r>
              <a:t>避免：</a:t>
            </a:r>
          </a:p>
          <a:p>
            <a:pPr>
              <a:spcBef>
                <a:spcPts val="1000"/>
              </a:spcBef>
              <a:spcAft>
                <a:spcPts val="500"/>
              </a:spcAft>
              <a:defRPr sz="2200">
                <a:solidFill>
                  <a:srgbClr val="C8C8DC"/>
                </a:solidFill>
              </a:defRPr>
            </a:pPr>
            <a:r>
              <a:t>• 完全依赖AI</a:t>
            </a:r>
          </a:p>
          <a:p>
            <a:pPr>
              <a:spcBef>
                <a:spcPts val="1000"/>
              </a:spcBef>
              <a:spcAft>
                <a:spcPts val="500"/>
              </a:spcAft>
              <a:defRPr sz="2200">
                <a:solidFill>
                  <a:srgbClr val="C8C8DC"/>
                </a:solidFill>
              </a:defRPr>
            </a:pPr>
            <a:r>
              <a:t>• 泄露敏感信息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09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案例：快速搭建网站</a:t>
            </a:r>
          </a:p>
        </p:txBody>
      </p:sp>
      <p:pic>
        <p:nvPicPr>
          <p:cNvPr id="5" name="Picture 4" descr="ppt_img_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1645920"/>
            <a:ext cx="3931920" cy="29489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1280160"/>
            <a:ext cx="6858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spcAft>
                <a:spcPts val="500"/>
              </a:spcAft>
              <a:defRPr sz="2200">
                <a:solidFill>
                  <a:srgbClr val="C8C8DC"/>
                </a:solidFill>
              </a:defRPr>
            </a:pPr>
            <a:r>
              <a:t>传统方式：7小时</a:t>
            </a:r>
          </a:p>
          <a:p>
            <a:pPr>
              <a:spcBef>
                <a:spcPts val="1000"/>
              </a:spcBef>
              <a:spcAft>
                <a:spcPts val="500"/>
              </a:spcAft>
              <a:defRPr sz="2200">
                <a:solidFill>
                  <a:srgbClr val="C8C8DC"/>
                </a:solidFill>
              </a:defRPr>
            </a:pPr>
            <a:r>
              <a:t>• 设计 2h + 编写 3h + 调试 2h</a:t>
            </a:r>
          </a:p>
          <a:p>
            <a:pPr>
              <a:spcBef>
                <a:spcPts val="1000"/>
              </a:spcBef>
              <a:spcAft>
                <a:spcPts val="500"/>
              </a:spcAft>
              <a:defRPr sz="2200">
                <a:solidFill>
                  <a:srgbClr val="C8C8DC"/>
                </a:solidFill>
              </a:defRPr>
            </a:pPr>
          </a:p>
          <a:p>
            <a:pPr>
              <a:spcBef>
                <a:spcPts val="1000"/>
              </a:spcBef>
              <a:spcAft>
                <a:spcPts val="500"/>
              </a:spcAft>
              <a:defRPr sz="2200">
                <a:solidFill>
                  <a:srgbClr val="C8C8DC"/>
                </a:solidFill>
              </a:defRPr>
            </a:pPr>
            <a:r>
              <a:t>AI辅助：35分钟</a:t>
            </a:r>
          </a:p>
          <a:p>
            <a:pPr>
              <a:spcBef>
                <a:spcPts val="1000"/>
              </a:spcBef>
              <a:spcAft>
                <a:spcPts val="500"/>
              </a:spcAft>
              <a:defRPr sz="2200">
                <a:solidFill>
                  <a:srgbClr val="C8C8DC"/>
                </a:solidFill>
              </a:defRPr>
            </a:pPr>
            <a:r>
              <a:t>• 描述需求 5min</a:t>
            </a:r>
          </a:p>
          <a:p>
            <a:pPr>
              <a:spcBef>
                <a:spcPts val="1000"/>
              </a:spcBef>
              <a:spcAft>
                <a:spcPts val="500"/>
              </a:spcAft>
              <a:defRPr sz="2200">
                <a:solidFill>
                  <a:srgbClr val="C8C8DC"/>
                </a:solidFill>
              </a:defRPr>
            </a:pPr>
            <a:r>
              <a:t>• AI生成 30s</a:t>
            </a:r>
          </a:p>
          <a:p>
            <a:pPr>
              <a:spcBef>
                <a:spcPts val="1000"/>
              </a:spcBef>
              <a:spcAft>
                <a:spcPts val="500"/>
              </a:spcAft>
              <a:defRPr sz="2200">
                <a:solidFill>
                  <a:srgbClr val="C8C8DC"/>
                </a:solidFill>
              </a:defRPr>
            </a:pPr>
            <a:r>
              <a:t>• 微调 30min</a:t>
            </a:r>
          </a:p>
          <a:p>
            <a:pPr>
              <a:spcBef>
                <a:spcPts val="1000"/>
              </a:spcBef>
              <a:spcAft>
                <a:spcPts val="500"/>
              </a:spcAft>
              <a:defRPr sz="2200">
                <a:solidFill>
                  <a:srgbClr val="C8C8DC"/>
                </a:solidFill>
              </a:defRPr>
            </a:pPr>
          </a:p>
          <a:p>
            <a:pPr>
              <a:spcBef>
                <a:spcPts val="1000"/>
              </a:spcBef>
              <a:spcAft>
                <a:spcPts val="500"/>
              </a:spcAft>
              <a:defRPr sz="2200">
                <a:solidFill>
                  <a:srgbClr val="C8C8DC"/>
                </a:solidFill>
              </a:defRPr>
            </a:pPr>
            <a:r>
              <a:t>效率提升：12倍！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09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未来展望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8016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spcAft>
                <a:spcPts val="500"/>
              </a:spcAft>
              <a:defRPr sz="2200">
                <a:solidFill>
                  <a:srgbClr val="C8C8DC"/>
                </a:solidFill>
              </a:defRPr>
            </a:pPr>
            <a:r>
              <a:t>更智能的代码理解</a:t>
            </a:r>
          </a:p>
          <a:p>
            <a:pPr>
              <a:spcBef>
                <a:spcPts val="1000"/>
              </a:spcBef>
              <a:spcAft>
                <a:spcPts val="500"/>
              </a:spcAft>
              <a:defRPr sz="2200">
                <a:solidFill>
                  <a:srgbClr val="C8C8DC"/>
                </a:solidFill>
              </a:defRPr>
            </a:pPr>
            <a:r>
              <a:t>• 项目架构理解</a:t>
            </a:r>
          </a:p>
          <a:p>
            <a:pPr>
              <a:spcBef>
                <a:spcPts val="1000"/>
              </a:spcBef>
              <a:spcAft>
                <a:spcPts val="500"/>
              </a:spcAft>
              <a:defRPr sz="2200">
                <a:solidFill>
                  <a:srgbClr val="C8C8DC"/>
                </a:solidFill>
              </a:defRPr>
            </a:pPr>
            <a:r>
              <a:t>• 跨文件分析</a:t>
            </a:r>
          </a:p>
          <a:p>
            <a:pPr>
              <a:spcBef>
                <a:spcPts val="1000"/>
              </a:spcBef>
              <a:spcAft>
                <a:spcPts val="500"/>
              </a:spcAft>
              <a:defRPr sz="2200">
                <a:solidFill>
                  <a:srgbClr val="C8C8DC"/>
                </a:solidFill>
              </a:defRPr>
            </a:pPr>
          </a:p>
          <a:p>
            <a:pPr>
              <a:spcBef>
                <a:spcPts val="1000"/>
              </a:spcBef>
              <a:spcAft>
                <a:spcPts val="500"/>
              </a:spcAft>
              <a:defRPr sz="2200">
                <a:solidFill>
                  <a:srgbClr val="C8C8DC"/>
                </a:solidFill>
              </a:defRPr>
            </a:pPr>
            <a:r>
              <a:t>更强的生成能力</a:t>
            </a:r>
          </a:p>
          <a:p>
            <a:pPr>
              <a:spcBef>
                <a:spcPts val="1000"/>
              </a:spcBef>
              <a:spcAft>
                <a:spcPts val="500"/>
              </a:spcAft>
              <a:defRPr sz="2200">
                <a:solidFill>
                  <a:srgbClr val="C8C8DC"/>
                </a:solidFill>
              </a:defRPr>
            </a:pPr>
            <a:r>
              <a:t>• 完整项目生成</a:t>
            </a:r>
          </a:p>
          <a:p>
            <a:pPr>
              <a:spcBef>
                <a:spcPts val="1000"/>
              </a:spcBef>
              <a:spcAft>
                <a:spcPts val="500"/>
              </a:spcAft>
              <a:defRPr sz="2200">
                <a:solidFill>
                  <a:srgbClr val="C8C8DC"/>
                </a:solidFill>
              </a:defRPr>
            </a:pPr>
            <a:r>
              <a:t>• 自动化测试</a:t>
            </a:r>
          </a:p>
          <a:p>
            <a:pPr>
              <a:spcBef>
                <a:spcPts val="1000"/>
              </a:spcBef>
              <a:spcAft>
                <a:spcPts val="500"/>
              </a:spcAft>
              <a:defRPr sz="2200">
                <a:solidFill>
                  <a:srgbClr val="C8C8DC"/>
                </a:solidFill>
              </a:defRPr>
            </a:pPr>
          </a:p>
          <a:p>
            <a:pPr>
              <a:spcBef>
                <a:spcPts val="1000"/>
              </a:spcBef>
              <a:spcAft>
                <a:spcPts val="500"/>
              </a:spcAft>
              <a:defRPr sz="2200">
                <a:solidFill>
                  <a:srgbClr val="C8C8DC"/>
                </a:solidFill>
              </a:defRPr>
            </a:pPr>
            <a:r>
              <a:t>更好的人机协作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09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总结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8016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spcAft>
                <a:spcPts val="500"/>
              </a:spcAft>
              <a:defRPr sz="2200">
                <a:solidFill>
                  <a:srgbClr val="C8C8DC"/>
                </a:solidFill>
              </a:defRPr>
            </a:pPr>
            <a:r>
              <a:t>AI辅助开发核心价值：</a:t>
            </a:r>
          </a:p>
          <a:p>
            <a:pPr>
              <a:spcBef>
                <a:spcPts val="1000"/>
              </a:spcBef>
              <a:spcAft>
                <a:spcPts val="500"/>
              </a:spcAft>
              <a:defRPr sz="2200">
                <a:solidFill>
                  <a:srgbClr val="C8C8DC"/>
                </a:solidFill>
              </a:defRPr>
            </a:pPr>
          </a:p>
          <a:p>
            <a:pPr>
              <a:spcBef>
                <a:spcPts val="1000"/>
              </a:spcBef>
              <a:spcAft>
                <a:spcPts val="500"/>
              </a:spcAft>
              <a:defRPr sz="2200">
                <a:solidFill>
                  <a:srgbClr val="C8C8DC"/>
                </a:solidFill>
              </a:defRPr>
            </a:pPr>
            <a:r>
              <a:t>1. 效率提升</a:t>
            </a:r>
          </a:p>
          <a:p>
            <a:pPr>
              <a:spcBef>
                <a:spcPts val="1000"/>
              </a:spcBef>
              <a:spcAft>
                <a:spcPts val="500"/>
              </a:spcAft>
              <a:defRPr sz="2200">
                <a:solidFill>
                  <a:srgbClr val="C8C8DC"/>
                </a:solidFill>
              </a:defRPr>
            </a:pPr>
            <a:r>
              <a:t>2. 质量保障</a:t>
            </a:r>
          </a:p>
          <a:p>
            <a:pPr>
              <a:spcBef>
                <a:spcPts val="1000"/>
              </a:spcBef>
              <a:spcAft>
                <a:spcPts val="500"/>
              </a:spcAft>
              <a:defRPr sz="2200">
                <a:solidFill>
                  <a:srgbClr val="C8C8DC"/>
                </a:solidFill>
              </a:defRPr>
            </a:pPr>
            <a:r>
              <a:t>3. 学习加速</a:t>
            </a:r>
          </a:p>
          <a:p>
            <a:pPr>
              <a:spcBef>
                <a:spcPts val="1000"/>
              </a:spcBef>
              <a:spcAft>
                <a:spcPts val="500"/>
              </a:spcAft>
              <a:defRPr sz="2200">
                <a:solidFill>
                  <a:srgbClr val="C8C8DC"/>
                </a:solidFill>
              </a:defRPr>
            </a:pPr>
            <a:r>
              <a:t>4. 创意释放</a:t>
            </a:r>
          </a:p>
          <a:p>
            <a:pPr>
              <a:spcBef>
                <a:spcPts val="1000"/>
              </a:spcBef>
              <a:spcAft>
                <a:spcPts val="500"/>
              </a:spcAft>
              <a:defRPr sz="2200">
                <a:solidFill>
                  <a:srgbClr val="C8C8DC"/>
                </a:solidFill>
              </a:defRPr>
            </a:pPr>
          </a:p>
          <a:p>
            <a:pPr>
              <a:spcBef>
                <a:spcPts val="1000"/>
              </a:spcBef>
              <a:spcAft>
                <a:spcPts val="500"/>
              </a:spcAft>
              <a:defRPr sz="2200">
                <a:solidFill>
                  <a:srgbClr val="C8C8DC"/>
                </a:solidFill>
              </a:defRPr>
            </a:pPr>
            <a:r>
              <a:t>AI是助手，善用但保持独立思考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560320"/>
            <a:ext cx="10362895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00FFC8"/>
                </a:solidFill>
              </a:defRPr>
            </a:pPr>
            <a:r>
              <a:t>感谢聆听！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840480"/>
            <a:ext cx="103628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96C8FF"/>
                </a:solidFill>
              </a:defRPr>
            </a:pPr>
            <a:r>
              <a:t>老六 - 刘科的最强助手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